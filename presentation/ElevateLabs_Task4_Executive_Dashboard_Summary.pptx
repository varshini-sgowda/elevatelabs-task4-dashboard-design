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41E34"/>
          </a:solidFill>
          <a:ln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ELEVATE LABS DATA ANALYST INTERNSHIP — TASK 4 DELIVERABLE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Global Sales &amp; Financial Performance Cockpit</a:t>
            </a:r>
          </a:p>
          <a:p>
            <a:pPr>
              <a:spcAft>
                <a:spcPts val="2400"/>
              </a:spcAft>
              <a:defRPr sz="1800">
                <a:solidFill>
                  <a:srgbClr val="818CF8"/>
                </a:solidFill>
              </a:defRPr>
            </a:pPr>
            <a:r>
              <a:t>Executive BI Dashboard, Time-Series Forecasting &amp; Strategic Growth Insights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Deliverables: Interactive Power BI / Tableau Dashboard Architecture • Executive PPT Summary • Kaggle Financial Dataset</a:t>
            </a:r>
            <a:br/>
            <a:r>
              <a:t>Tools Used: Power BI • Tableau • Python (Pandas / Seaborn / PPTX) • Modern HTML5 / Chart.js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Objectives &amp; Business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8BDF8"/>
                </a:solidFill>
              </a:defRPr>
            </a:pPr>
            <a:r>
              <a:t>1. Business Objective</a:t>
            </a:r>
          </a:p>
          <a:p>
            <a:pPr>
              <a:spcAft>
                <a:spcPts val="1600"/>
              </a:spcAft>
              <a:defRPr sz="1100">
                <a:solidFill>
                  <a:srgbClr val="94A3B8"/>
                </a:solidFill>
              </a:defRPr>
            </a:pPr>
            <a:r>
              <a:t>Empowering C-Suite Decision Making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Transform 3,500+ granular B2B &amp; B2C enterprise sales transactions into real-time actionable intelligence.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Identify margin leakages, unprofitable discount brackets, and seasonal demand peaks.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Establish unified KPIs for Finance, Sales Operations, and Regional Directors.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4D399"/>
                </a:solidFill>
              </a:defRPr>
            </a:pPr>
            <a:r>
              <a:t>2. Dashboard Requirements</a:t>
            </a:r>
          </a:p>
          <a:p>
            <a:pPr>
              <a:spcAft>
                <a:spcPts val="1600"/>
              </a:spcAft>
              <a:defRPr sz="1100">
                <a:solidFill>
                  <a:srgbClr val="94A3B8"/>
                </a:solidFill>
              </a:defRPr>
            </a:pPr>
            <a:r>
              <a:t>Interactive &amp; User-Centric Design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KPI Summary Cards: Highlight Net Sales ($5.39M), Net Profit ($1.42M), Margin % (26.41%), and AOV.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Multi-dimensional Slicers: Filter by Fiscal Year (2024-2026), Region, Product Category, and Segment.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Navigation Structure: Distinct views for Executive Cockpit, Regional Deep Dive, and Product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BBF24"/>
                </a:solidFill>
              </a:defRPr>
            </a:pPr>
            <a:r>
              <a:t>3. Stakeholder Value</a:t>
            </a:r>
          </a:p>
          <a:p>
            <a:pPr>
              <a:spcAft>
                <a:spcPts val="1600"/>
              </a:spcAft>
              <a:defRPr sz="1100">
                <a:solidFill>
                  <a:srgbClr val="94A3B8"/>
                </a:solidFill>
              </a:defRPr>
            </a:pPr>
            <a:r>
              <a:t>Tangible ROI &amp; Strategic Guidance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Identify top 10 revenue-generating enterprise products (MacBook Air, Herman Miller chairs).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Optimize regional supply chains across North America, Europe, APAC, and LATAM.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• Provide clear recommendations to improve net operating margins by +3.2% in FY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Core Business KPIs &amp; Financial Performance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GROSS NET REVENUE</a:t>
            </a:r>
          </a:p>
          <a:p>
            <a:pPr>
              <a:spcAft>
                <a:spcPts val="400"/>
              </a:spcAft>
              <a:defRPr sz="2400" b="1">
                <a:solidFill>
                  <a:srgbClr val="38BDF8"/>
                </a:solidFill>
              </a:defRPr>
            </a:pPr>
            <a:r>
              <a:t>$5,389,967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+18.4% YoY Growth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Total generated across 3,500 transactions spanning 2024–2026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TOTAL NET PROFIT</a:t>
            </a:r>
          </a:p>
          <a:p>
            <a:pPr>
              <a:spcAft>
                <a:spcPts val="400"/>
              </a:spcAft>
              <a:defRPr sz="2400" b="1">
                <a:solidFill>
                  <a:srgbClr val="34D399"/>
                </a:solidFill>
              </a:defRPr>
            </a:pPr>
            <a:r>
              <a:t>$1,423,671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Healthy Cash Flow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Strong profitability driven by Technology and Office Supplies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2128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PROFIT MARGIN %</a:t>
            </a:r>
          </a:p>
          <a:p>
            <a:pPr>
              <a:spcAft>
                <a:spcPts val="400"/>
              </a:spcAft>
              <a:defRPr sz="2400" b="1">
                <a:solidFill>
                  <a:srgbClr val="FBBF24"/>
                </a:solidFill>
              </a:defRPr>
            </a:pPr>
            <a:r>
              <a:t>26.41%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+4.4% vs Industry Benchmark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Consistently exceeds target threshold of 22.0% across all 4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TOTAL ORDER VOLUME</a:t>
            </a:r>
          </a:p>
          <a:p>
            <a:pPr>
              <a:spcAft>
                <a:spcPts val="400"/>
              </a:spcAft>
              <a:defRPr sz="2400" b="1">
                <a:solidFill>
                  <a:srgbClr val="F472B6"/>
                </a:solidFill>
              </a:defRPr>
            </a:pPr>
            <a:r>
              <a:t>3,500 Orders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100% Fulfillment Rate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30 Key Enterprise &amp; Consumer Accounts with balanced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388620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AVERAGE ORDER VALUE (AOV)</a:t>
            </a:r>
          </a:p>
          <a:p>
            <a:pPr>
              <a:spcAft>
                <a:spcPts val="400"/>
              </a:spcAft>
              <a:defRPr sz="2400" b="1">
                <a:solidFill>
                  <a:srgbClr val="818CF8"/>
                </a:solidFill>
              </a:defRPr>
            </a:pPr>
            <a:r>
              <a:t>$1,540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High Basket Value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Technology procurement drives significant deal sizes in Corporate segment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8" y="388620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UNITS DISTRIBUTED</a:t>
            </a:r>
          </a:p>
          <a:p>
            <a:pPr>
              <a:spcAft>
                <a:spcPts val="400"/>
              </a:spcAft>
              <a:defRPr sz="2400" b="1">
                <a:solidFill>
                  <a:srgbClr val="06B6D4"/>
                </a:solidFill>
              </a:defRPr>
            </a:pPr>
            <a:r>
              <a:t>8,740 Units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▲ Avg Discount: 4.8%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Controlled promotional discounting preserves bottom-line earnings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Dashboard Architecture &amp; Slicer Controls</a:t>
            </a:r>
          </a:p>
        </p:txBody>
      </p:sp>
      <p:pic>
        <p:nvPicPr>
          <p:cNvPr id="4" name="Picture 3" descr="full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32511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828800"/>
            <a:ext cx="37764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Navigation &amp; Slicer Framework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✔ Global Slicers &amp; Dynamic Cross-Filtering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Allows immediate slicing by Fiscal Year (2024-2026), Region (Global/NA/EU/APAC/LATAM), Category, and Customer Segment.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✔ Multi-Tab Navigation Structure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Structured tabs allow progressive disclosure: Executive Cockpit, Regional Deep Dive, Product &amp; Margin Matrix, and Transaction Explorer.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✔ Visual Hierarchy &amp; Color Harmony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Consistent Dark Slate (#0F172A) corporate theme with high-contrast accessibility compliant data series.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✔ Granular Transaction Explorer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Real-time search, sorting, and instant 1-click CSV export directly from the dashboard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Time-Series Analysis: Sales, Profit &amp; Seasonality Trends</a:t>
            </a:r>
          </a:p>
        </p:txBody>
      </p:sp>
      <p:pic>
        <p:nvPicPr>
          <p:cNvPr id="4" name="Picture 3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645920"/>
            <a:ext cx="395935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828800"/>
            <a:ext cx="3502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Key Time-Series Findings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Quarterly Cyclicality &amp; Q4 Spike: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Predictable holiday demand surges in November &amp; December generate 34% of annual net profit.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Consistent Profit Margin Corridor: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Profitability remains locked between 24% and 29% month-over-month, demonstrating resilient pricing power.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Post-Holiday Q1 Rebound: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Following minor January dips, Corporate IT procurement cycles drive sharp recovery in March and April.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Forecasting Implications: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Enables proactive inventory stockpiling 45 days prior to Q4 peak, minimizing expedited airfreight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Geographic Performance: Regional Breakdown &amp; Market Share</a:t>
            </a:r>
          </a:p>
        </p:txBody>
      </p:sp>
      <p:pic>
        <p:nvPicPr>
          <p:cNvPr id="4" name="Picture 3" descr="region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32511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3867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Regional Market Matrix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• North America (42% Share):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Dominant volume engine generating $2.26M in Net Sales and $598K profit. Key metro hubs: New York, Toronto, Los Angeles.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• Europe (28% Share):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Highest customer basket margin (26.8%) led by United Kingdom and Germany with steady enterprise contracts.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• Asia Pacific (20% Share):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Fastest expanding region with high demand in Japan and Australia for Technology hardware.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• Latin America (10% Share):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Emerging high-potential market. Lower volume but exceptional margin retention due to low local discounting.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Category &amp; Sub-Category Profitability Breakdown</a:t>
            </a:r>
          </a:p>
        </p:txBody>
      </p:sp>
      <p:pic>
        <p:nvPicPr>
          <p:cNvPr id="4" name="Picture 3" descr="category_profi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645920"/>
            <a:ext cx="414223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828800"/>
            <a:ext cx="3685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Category Margin Dynamics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Technology (Top Profit Contributor):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Laptops &amp; Phones generate the highest absolute dollar profit. Premium specifications provide high markups without customer pushback.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Furniture (Moderate Margins, High AOV):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Chairs and Motorized Standing Desks yield strong revenue, but logistics and heavy bulk freight reduce net margin to 22.1%.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Office Supplies (Stable Cash Cow):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Storage, Paper, and Appliances boast low manufacturing costs and steady recurring purchase cycles.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Discount Elasticity Alert: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Sub-categories subjected to discounts above 15% experience a 42% drop in contribution margin.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Strategic Recommendations for Business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01 | Enforce Smart Discount Guardrails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Action: Cap discretionary discounts at 10% for Furniture and Standard retail orders. Limit 20% discounts exclusively to bulk enterprise agreements with minimum $15K commitments.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Expected Impact: Expected Net Margin uplift of +1.8% ($97K annual profit increase).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02 | Scale B2B Bundling in Technology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Action: Package high-margin Laptops with premium Accessories (monitors, docking hubs) as turnkey workstation packages for Corporate clients.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Expected Impact: Increases Average Order Value (AOV) from $1,540 to $1,850+.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03 | Optimize APAC &amp; LATAM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Action: Establish regional warehouse fulfillment hubs in Singapore and São Paulo to reduce international air shipping times and shipping tier surcharges.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Expected Impact: Lowers logistics overhead by 14% while improving delivery SLAs.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04 | Automate KPI Alerting in Power BI / Tableau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Action: Deploy scheduled data-driven alerts for Regional VPs when gross margins dip below 20% or when order cancellation rates spike.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Expected Impact: Transforms dashboard from passive reporting to proactive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Architecture: Power BI DAX &amp; Tableau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Power BI Architecture &amp; DAX Measures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• Total Sales Measure: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Total Sales = SUM(FactSales[Net_Sales])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• Total Profit Measure: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Total Profit = SUM(FactSales[Profit])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• Profit Margin %: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Profit Margin % = DIVIDE([Total Profit], [Total Sales], 0)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• YoY Sales Growth %: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YoY Sales Growth % = </a:t>
            </a:r>
            <a:br/>
            <a:r>
              <a:t>VAR PrevYear = CALCULATE([Total Sales], SAMEPERIODLASTYEAR(DimDate[Date]))</a:t>
            </a:r>
            <a:br/>
            <a:r>
              <a:t>RETURN DIVIDE([Total Sales] - PrevYear, PrevYear, 0)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• Average Order Value (AOV):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AOV = DIVIDE([Total Sales], DISTINCTCOUNT(FactSales[Order_ID]),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25780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82880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Tableau Architecture &amp; Calculated Fields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Profit Ratio Field: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[Profit Ratio] = SUM([Profit]) / SUM([Net Sales])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Regional LOD (Fixed):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[Sales by Region] = { FIXED [Region] : SUM([Net Sales]) }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YoY Growth Quick Table Calculation: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(ZN(SUM([Net Sales])) - LOOKUP(ZN(SUM([Net Sales])), -1)) / ABS(LOOKUP(ZN(SUM([Net Sales])), -1))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Dynamic Parameter Slicer: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CASE [Metric Parameter]</a:t>
            </a:r>
            <a:br/>
            <a:r>
              <a:t>  WHEN 'Sales' THEN [Total Sales]</a:t>
            </a:r>
            <a:br/>
            <a:r>
              <a:t>  WHEN 'Profit' THEN [Total Profit]</a:t>
            </a:r>
            <a:br/>
            <a:r>
              <a:t>END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• Dashboard Actions: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Filter Action on [Region] &amp; [Category] mapped across all target worksheets in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ELEVATE LABS | DATA ANALYST INTERNSHIP - TASK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Elevate Labs Interview Questions &amp; Expert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1. Key Elements of a Dashboard?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Header &amp; context, KPI summary cards, interactive slicers/filters, time-series trend lines, comparative breakdown charts, granular data tables, and consistent color harmony.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55648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2. What is a KPI?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 Key Performance Indicator is a quantifiable metric tracking progress toward strategic business goals (e.g., Net Sales, Profit Margin %, AOV, YoY Growth).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16352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3. What are Slicers in Power BI?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Canvas-based visual filters that enable consumers to slice data dynamically across dropdowns, dates, and hierarchies, with cross-page synchronization.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16352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926080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4. Power BI vs. Tableau?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Power BI excels in data modeling, Power Query ETL, DAX, and Microsoft ecosystem pricing. Tableau excels in exploratory visual analysis, complex custom layouts, and LOD expressions.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5. How to make Dashboards Interactive?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Implement cross-filtering, slicer controls, drill-downs (Year&gt;Month), drill-through pages, bookmarks, and dynamic hover tooltips.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86784"/>
            <a:ext cx="525780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96512"/>
            <a:ext cx="4892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6. Dealing with Large Datasets?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Pre-aggregations, Star Schema, VertiPaq/Hyper columnar compression, DirectQuery with Composite models, incremental refresh, and Top-N filters.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57216"/>
            <a:ext cx="10725912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66944"/>
            <a:ext cx="1036015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</a:defRPr>
            </a:pPr>
            <a:r>
              <a:t>7. Chart Types for Trend Analysis?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Line Charts (continuous time-series), Area Charts (volume &amp; category composition), Combo Column+Line Charts (volume vs margin %), and Sparklines.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